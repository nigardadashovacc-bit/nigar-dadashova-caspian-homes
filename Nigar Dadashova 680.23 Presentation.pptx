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9144000" cy="5143500" type="screen16x9"/>
  <p:notesSz cx="5143500" cy="9144000"/>
  <p:embeddedFontLst>
    <p:embeddedFont>
      <p:font typeface="Calibri" panose="020F0502020204030204" pitchFamily="34" charset="0"/>
      <p:regular r:id="rId9"/>
      <p:bold r:id="rId10"/>
      <p:italic r:id="rId11"/>
      <p:boldItalic r:id="rId12"/>
    </p:embeddedFont>
    <p:embeddedFont>
      <p:font typeface="Instrument Sans Medium" pitchFamily="2" charset="0"/>
      <p:regular r:id="rId13"/>
    </p:embeddedFont>
    <p:embeddedFont>
      <p:font typeface="Inter" panose="02000503000000020004" pitchFamily="2" charset="0"/>
      <p:regular r:id="rId14"/>
    </p:embeddedFont>
  </p:embeddedFontLst>
  <p:defaultTextStyle>
    <a:defPPr>
      <a:defRPr lang="ru-AZ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21"/>
    <p:restoredTop sz="94610"/>
  </p:normalViewPr>
  <p:slideViewPr>
    <p:cSldViewPr snapToGrid="0" snapToObjects="1">
      <p:cViewPr varScale="1">
        <p:scale>
          <a:sx n="120" d="100"/>
          <a:sy n="120" d="100"/>
        </p:scale>
        <p:origin x="200" y="101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font" Target="fonts/font5.fntdata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4.fntdata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3.fntdata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font" Target="fonts/font2.fntdata"/><Relationship Id="rId4" Type="http://schemas.openxmlformats.org/officeDocument/2006/relationships/slide" Target="slides/slide3.xml"/><Relationship Id="rId9" Type="http://schemas.openxmlformats.org/officeDocument/2006/relationships/font" Target="fonts/font1.fntdata"/><Relationship Id="rId14" Type="http://schemas.openxmlformats.org/officeDocument/2006/relationships/font" Target="fonts/font6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4089323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8171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42429"/>
          </a:solidFill>
          <a:ln/>
        </p:spPr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8171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42429"/>
          </a:solidFill>
          <a:ln/>
        </p:spPr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8171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42429"/>
          </a:solidFill>
          <a:ln/>
        </p:spPr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8171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42429"/>
          </a:solidFill>
          <a:ln/>
        </p:spPr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8171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42429"/>
          </a:solidFill>
          <a:ln/>
        </p:spPr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8171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42429"/>
          </a:solidFill>
          <a:ln/>
        </p:spPr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sv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5.png"/><Relationship Id="rId5" Type="http://schemas.openxmlformats.org/officeDocument/2006/relationships/image" Target="../media/image4.svg"/><Relationship Id="rId4" Type="http://schemas.openxmlformats.org/officeDocument/2006/relationships/image" Target="../media/image3.png"/><Relationship Id="rId9" Type="http://schemas.openxmlformats.org/officeDocument/2006/relationships/image" Target="../media/image8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svg"/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3.svg"/><Relationship Id="rId5" Type="http://schemas.openxmlformats.org/officeDocument/2006/relationships/image" Target="../media/image12.png"/><Relationship Id="rId10" Type="http://schemas.openxmlformats.org/officeDocument/2006/relationships/image" Target="../media/image17.png"/><Relationship Id="rId4" Type="http://schemas.openxmlformats.org/officeDocument/2006/relationships/image" Target="../media/image11.svg"/><Relationship Id="rId9" Type="http://schemas.openxmlformats.org/officeDocument/2006/relationships/image" Target="../media/image1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7" Type="http://schemas.openxmlformats.org/officeDocument/2006/relationships/image" Target="../media/image22.sv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21.png"/><Relationship Id="rId5" Type="http://schemas.openxmlformats.org/officeDocument/2006/relationships/image" Target="../media/image20.svg"/><Relationship Id="rId4" Type="http://schemas.openxmlformats.org/officeDocument/2006/relationships/image" Target="../media/image19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197695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96119" y="2327151"/>
            <a:ext cx="8151763" cy="9093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550"/>
              </a:lnSpc>
              <a:buNone/>
            </a:pPr>
            <a:r>
              <a:rPr lang="en-US" sz="2850" dirty="0">
                <a:solidFill>
                  <a:srgbClr val="EFD5FA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Разработка онлайн информационной системы для компании по продаже жилья</a:t>
            </a:r>
            <a:endParaRPr lang="en-US" sz="2850" dirty="0"/>
          </a:p>
        </p:txBody>
      </p:sp>
      <p:sp>
        <p:nvSpPr>
          <p:cNvPr id="4" name="Text 1"/>
          <p:cNvSpPr/>
          <p:nvPr/>
        </p:nvSpPr>
        <p:spPr>
          <a:xfrm>
            <a:off x="496119" y="3370883"/>
            <a:ext cx="2635969" cy="3294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2050" dirty="0">
                <a:solidFill>
                  <a:srgbClr val="EFD5FA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Caspian Homes</a:t>
            </a:r>
            <a:endParaRPr lang="en-US" sz="2050" dirty="0"/>
          </a:p>
        </p:txBody>
      </p:sp>
      <p:sp>
        <p:nvSpPr>
          <p:cNvPr id="5" name="Text 2"/>
          <p:cNvSpPr/>
          <p:nvPr/>
        </p:nvSpPr>
        <p:spPr>
          <a:xfrm>
            <a:off x="496119" y="3834705"/>
            <a:ext cx="8151763" cy="1560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00" dirty="0">
                <a:solidFill>
                  <a:srgbClr val="C7CD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Курсовая работа по предмету: </a:t>
            </a:r>
            <a:r>
              <a:rPr lang="en-US" sz="800" b="1" dirty="0">
                <a:solidFill>
                  <a:srgbClr val="C7CD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«Веб-системы и технологии»</a:t>
            </a:r>
            <a:endParaRPr lang="en-US" sz="800" dirty="0"/>
          </a:p>
        </p:txBody>
      </p:sp>
      <p:sp>
        <p:nvSpPr>
          <p:cNvPr id="6" name="Text 3"/>
          <p:cNvSpPr/>
          <p:nvPr/>
        </p:nvSpPr>
        <p:spPr>
          <a:xfrm>
            <a:off x="496119" y="4091508"/>
            <a:ext cx="8151763" cy="1560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00" dirty="0">
                <a:solidFill>
                  <a:srgbClr val="C7CD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Студент: Нигяр Дадашова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496119" y="4348311"/>
            <a:ext cx="8151763" cy="1560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00" dirty="0">
                <a:solidFill>
                  <a:srgbClr val="C7CD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Преподаватель: Халилов Матлаб , Алиев Джамиль</a:t>
            </a:r>
            <a:endParaRPr lang="en-US" sz="800" dirty="0"/>
          </a:p>
        </p:txBody>
      </p:sp>
      <p:sp>
        <p:nvSpPr>
          <p:cNvPr id="8" name="Shape 5"/>
          <p:cNvSpPr/>
          <p:nvPr/>
        </p:nvSpPr>
        <p:spPr>
          <a:xfrm>
            <a:off x="496119" y="4605114"/>
            <a:ext cx="367457" cy="188119"/>
          </a:xfrm>
          <a:prstGeom prst="roundRect">
            <a:avLst>
              <a:gd name="adj" fmla="val 6726"/>
            </a:avLst>
          </a:prstGeom>
          <a:solidFill>
            <a:srgbClr val="4A0303"/>
          </a:solidFill>
          <a:ln/>
        </p:spPr>
      </p:sp>
      <p:sp>
        <p:nvSpPr>
          <p:cNvPr id="9" name="Text 6"/>
          <p:cNvSpPr/>
          <p:nvPr/>
        </p:nvSpPr>
        <p:spPr>
          <a:xfrm>
            <a:off x="559371" y="4636740"/>
            <a:ext cx="240953" cy="1248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50"/>
              </a:lnSpc>
              <a:buNone/>
            </a:pPr>
            <a:r>
              <a:rPr lang="en-US" sz="650" dirty="0">
                <a:solidFill>
                  <a:srgbClr val="C7CD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HTML</a:t>
            </a:r>
            <a:endParaRPr lang="en-US" sz="650" dirty="0"/>
          </a:p>
        </p:txBody>
      </p:sp>
      <p:sp>
        <p:nvSpPr>
          <p:cNvPr id="10" name="Shape 7"/>
          <p:cNvSpPr/>
          <p:nvPr/>
        </p:nvSpPr>
        <p:spPr>
          <a:xfrm>
            <a:off x="916260" y="4605114"/>
            <a:ext cx="296317" cy="188119"/>
          </a:xfrm>
          <a:prstGeom prst="roundRect">
            <a:avLst>
              <a:gd name="adj" fmla="val 6726"/>
            </a:avLst>
          </a:prstGeom>
          <a:solidFill>
            <a:srgbClr val="4A0303"/>
          </a:solidFill>
          <a:ln/>
        </p:spPr>
      </p:sp>
      <p:sp>
        <p:nvSpPr>
          <p:cNvPr id="11" name="Text 8"/>
          <p:cNvSpPr/>
          <p:nvPr/>
        </p:nvSpPr>
        <p:spPr>
          <a:xfrm>
            <a:off x="979512" y="4636740"/>
            <a:ext cx="169813" cy="1248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50"/>
              </a:lnSpc>
              <a:buNone/>
            </a:pPr>
            <a:r>
              <a:rPr lang="en-US" sz="650" dirty="0">
                <a:solidFill>
                  <a:srgbClr val="C7CD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CSS</a:t>
            </a:r>
            <a:endParaRPr lang="en-US" sz="650" dirty="0"/>
          </a:p>
        </p:txBody>
      </p:sp>
      <p:sp>
        <p:nvSpPr>
          <p:cNvPr id="12" name="Shape 9"/>
          <p:cNvSpPr/>
          <p:nvPr/>
        </p:nvSpPr>
        <p:spPr>
          <a:xfrm>
            <a:off x="1265262" y="4605114"/>
            <a:ext cx="636836" cy="188119"/>
          </a:xfrm>
          <a:prstGeom prst="roundRect">
            <a:avLst>
              <a:gd name="adj" fmla="val 6726"/>
            </a:avLst>
          </a:prstGeom>
          <a:solidFill>
            <a:srgbClr val="4A0303"/>
          </a:solidFill>
          <a:ln/>
        </p:spPr>
      </p:sp>
      <p:sp>
        <p:nvSpPr>
          <p:cNvPr id="13" name="Text 10"/>
          <p:cNvSpPr/>
          <p:nvPr/>
        </p:nvSpPr>
        <p:spPr>
          <a:xfrm>
            <a:off x="1328514" y="4636740"/>
            <a:ext cx="510332" cy="1248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50"/>
              </a:lnSpc>
              <a:buNone/>
            </a:pPr>
            <a:r>
              <a:rPr lang="en-US" sz="650" dirty="0">
                <a:solidFill>
                  <a:srgbClr val="C7CD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JAVASCRIPT</a:t>
            </a:r>
            <a:endParaRPr lang="en-US" sz="6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96119" y="497012"/>
            <a:ext cx="2946053" cy="3682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2300" dirty="0">
                <a:solidFill>
                  <a:srgbClr val="EFD5FA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Цель проекта</a:t>
            </a:r>
            <a:endParaRPr lang="en-US" sz="2300" dirty="0"/>
          </a:p>
        </p:txBody>
      </p:sp>
      <p:sp>
        <p:nvSpPr>
          <p:cNvPr id="4" name="Text 1"/>
          <p:cNvSpPr/>
          <p:nvPr/>
        </p:nvSpPr>
        <p:spPr>
          <a:xfrm>
            <a:off x="496119" y="1033090"/>
            <a:ext cx="4722763" cy="7355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00" dirty="0">
                <a:solidFill>
                  <a:srgbClr val="C7CD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Целью данной курсовой работы является разработка современного веб-сайта для компании </a:t>
            </a:r>
            <a:r>
              <a:rPr lang="en-US" sz="900" b="1" dirty="0">
                <a:solidFill>
                  <a:srgbClr val="C7CD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Caspian Homes</a:t>
            </a:r>
            <a:r>
              <a:rPr lang="en-US" sz="900" dirty="0">
                <a:solidFill>
                  <a:srgbClr val="C7CD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, специализирующейся на продаже объектов недвижимости. Сайт призван упростить взаимодействие потенциальных покупателей с каталогом объектов и консультантами компании.</a:t>
            </a:r>
            <a:endParaRPr lang="en-US" sz="900" dirty="0"/>
          </a:p>
        </p:txBody>
      </p:sp>
      <p:sp>
        <p:nvSpPr>
          <p:cNvPr id="5" name="Shape 2"/>
          <p:cNvSpPr/>
          <p:nvPr/>
        </p:nvSpPr>
        <p:spPr>
          <a:xfrm>
            <a:off x="496119" y="1894508"/>
            <a:ext cx="2305422" cy="1503908"/>
          </a:xfrm>
          <a:prstGeom prst="roundRect">
            <a:avLst>
              <a:gd name="adj" fmla="val 1175"/>
            </a:avLst>
          </a:prstGeom>
          <a:solidFill>
            <a:srgbClr val="434348"/>
          </a:solidFill>
          <a:ln/>
        </p:spPr>
      </p:sp>
      <p:sp>
        <p:nvSpPr>
          <p:cNvPr id="6" name="Shape 3"/>
          <p:cNvSpPr/>
          <p:nvPr/>
        </p:nvSpPr>
        <p:spPr>
          <a:xfrm>
            <a:off x="613916" y="2012305"/>
            <a:ext cx="353467" cy="353467"/>
          </a:xfrm>
          <a:prstGeom prst="roundRect">
            <a:avLst>
              <a:gd name="adj" fmla="val 16166795"/>
            </a:avLst>
          </a:prstGeom>
          <a:solidFill>
            <a:srgbClr val="FDC4C4"/>
          </a:solidFill>
          <a:ln/>
        </p:spPr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11101" y="2109490"/>
            <a:ext cx="159023" cy="159023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13916" y="2477691"/>
            <a:ext cx="1734443" cy="1841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150" dirty="0">
                <a:solidFill>
                  <a:srgbClr val="C7CDD6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Просмотр предложений</a:t>
            </a:r>
            <a:endParaRPr lang="en-US" sz="1150" dirty="0"/>
          </a:p>
        </p:txBody>
      </p:sp>
      <p:sp>
        <p:nvSpPr>
          <p:cNvPr id="9" name="Text 5"/>
          <p:cNvSpPr/>
          <p:nvPr/>
        </p:nvSpPr>
        <p:spPr>
          <a:xfrm>
            <a:off x="613916" y="2728987"/>
            <a:ext cx="2069827" cy="5516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00" dirty="0">
                <a:solidFill>
                  <a:srgbClr val="C7CD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Удобный доступ ко всем доступным объектам недвижимости в одном месте</a:t>
            </a:r>
            <a:endParaRPr lang="en-US" sz="900" dirty="0"/>
          </a:p>
        </p:txBody>
      </p:sp>
      <p:sp>
        <p:nvSpPr>
          <p:cNvPr id="10" name="Shape 6"/>
          <p:cNvSpPr/>
          <p:nvPr/>
        </p:nvSpPr>
        <p:spPr>
          <a:xfrm>
            <a:off x="2913459" y="1894508"/>
            <a:ext cx="2305422" cy="1503908"/>
          </a:xfrm>
          <a:prstGeom prst="roundRect">
            <a:avLst>
              <a:gd name="adj" fmla="val 1175"/>
            </a:avLst>
          </a:prstGeom>
          <a:solidFill>
            <a:srgbClr val="434348"/>
          </a:solidFill>
          <a:ln/>
        </p:spPr>
      </p:sp>
      <p:sp>
        <p:nvSpPr>
          <p:cNvPr id="11" name="Shape 7"/>
          <p:cNvSpPr/>
          <p:nvPr/>
        </p:nvSpPr>
        <p:spPr>
          <a:xfrm>
            <a:off x="3031257" y="2012305"/>
            <a:ext cx="353467" cy="353467"/>
          </a:xfrm>
          <a:prstGeom prst="roundRect">
            <a:avLst>
              <a:gd name="adj" fmla="val 16166795"/>
            </a:avLst>
          </a:prstGeom>
          <a:solidFill>
            <a:srgbClr val="FDC4C4"/>
          </a:solidFill>
          <a:ln/>
        </p:spPr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3128442" y="2109490"/>
            <a:ext cx="159023" cy="159023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3031257" y="2477691"/>
            <a:ext cx="1825005" cy="1841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150" dirty="0">
                <a:solidFill>
                  <a:srgbClr val="C7CDD6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Сравнение и фильтрация</a:t>
            </a:r>
            <a:endParaRPr lang="en-US" sz="1150" dirty="0"/>
          </a:p>
        </p:txBody>
      </p:sp>
      <p:sp>
        <p:nvSpPr>
          <p:cNvPr id="14" name="Text 9"/>
          <p:cNvSpPr/>
          <p:nvPr/>
        </p:nvSpPr>
        <p:spPr>
          <a:xfrm>
            <a:off x="3031257" y="2728987"/>
            <a:ext cx="2069827" cy="3677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00" dirty="0">
                <a:solidFill>
                  <a:srgbClr val="C7CD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Сортировка по району, площади, количеству комнат и цене</a:t>
            </a:r>
            <a:endParaRPr lang="en-US" sz="900" dirty="0"/>
          </a:p>
        </p:txBody>
      </p:sp>
      <p:sp>
        <p:nvSpPr>
          <p:cNvPr id="15" name="Shape 10"/>
          <p:cNvSpPr/>
          <p:nvPr/>
        </p:nvSpPr>
        <p:spPr>
          <a:xfrm>
            <a:off x="496119" y="3510335"/>
            <a:ext cx="4722763" cy="1136154"/>
          </a:xfrm>
          <a:prstGeom prst="roundRect">
            <a:avLst>
              <a:gd name="adj" fmla="val 1556"/>
            </a:avLst>
          </a:prstGeom>
          <a:solidFill>
            <a:srgbClr val="434348"/>
          </a:solidFill>
          <a:ln/>
        </p:spPr>
      </p:sp>
      <p:sp>
        <p:nvSpPr>
          <p:cNvPr id="16" name="Shape 11"/>
          <p:cNvSpPr/>
          <p:nvPr/>
        </p:nvSpPr>
        <p:spPr>
          <a:xfrm>
            <a:off x="613916" y="3628132"/>
            <a:ext cx="353467" cy="353467"/>
          </a:xfrm>
          <a:prstGeom prst="roundRect">
            <a:avLst>
              <a:gd name="adj" fmla="val 16166795"/>
            </a:avLst>
          </a:prstGeom>
          <a:solidFill>
            <a:srgbClr val="FDC4C4"/>
          </a:solidFill>
          <a:ln/>
        </p:spPr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711101" y="3725317"/>
            <a:ext cx="159023" cy="159023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613916" y="4093518"/>
            <a:ext cx="1757139" cy="1841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150" dirty="0">
                <a:solidFill>
                  <a:srgbClr val="C7CDD6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Заявка на консультацию</a:t>
            </a:r>
            <a:endParaRPr lang="en-US" sz="1150" dirty="0"/>
          </a:p>
        </p:txBody>
      </p:sp>
      <p:sp>
        <p:nvSpPr>
          <p:cNvPr id="19" name="Text 13"/>
          <p:cNvSpPr/>
          <p:nvPr/>
        </p:nvSpPr>
        <p:spPr>
          <a:xfrm>
            <a:off x="613916" y="4344814"/>
            <a:ext cx="4487168" cy="1838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00" dirty="0">
                <a:solidFill>
                  <a:srgbClr val="C7CD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Форма обратной связи для быстрой связи с консультантом компании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925119" y="459358"/>
            <a:ext cx="2635969" cy="3294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2050" dirty="0">
                <a:solidFill>
                  <a:srgbClr val="EFD5FA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Структура веб-сайта</a:t>
            </a:r>
            <a:endParaRPr lang="en-US" sz="2050" dirty="0"/>
          </a:p>
        </p:txBody>
      </p:sp>
      <p:sp>
        <p:nvSpPr>
          <p:cNvPr id="4" name="Text 1"/>
          <p:cNvSpPr/>
          <p:nvPr/>
        </p:nvSpPr>
        <p:spPr>
          <a:xfrm>
            <a:off x="3925119" y="923181"/>
            <a:ext cx="4722763" cy="3120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00" dirty="0">
                <a:solidFill>
                  <a:srgbClr val="C7CD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Разработанный сайт состоит из четырёх основных страниц, каждая из которых выполняет свою роль в пользовательском опыте и информационной архитектуре проекта.</a:t>
            </a:r>
            <a:endParaRPr lang="en-US" sz="800" dirty="0"/>
          </a:p>
        </p:txBody>
      </p:sp>
      <p:sp>
        <p:nvSpPr>
          <p:cNvPr id="5" name="Shape 2"/>
          <p:cNvSpPr/>
          <p:nvPr/>
        </p:nvSpPr>
        <p:spPr>
          <a:xfrm>
            <a:off x="3925119" y="1336030"/>
            <a:ext cx="4722763" cy="769813"/>
          </a:xfrm>
          <a:prstGeom prst="roundRect">
            <a:avLst>
              <a:gd name="adj" fmla="val 2055"/>
            </a:avLst>
          </a:prstGeom>
          <a:solidFill>
            <a:srgbClr val="242429"/>
          </a:solidFill>
          <a:ln w="14288">
            <a:solidFill>
              <a:srgbClr val="5C5C61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3939406" y="1350318"/>
            <a:ext cx="421704" cy="741238"/>
          </a:xfrm>
          <a:prstGeom prst="rect">
            <a:avLst/>
          </a:prstGeom>
          <a:solidFill>
            <a:srgbClr val="434348"/>
          </a:solidFill>
          <a:ln/>
        </p:spPr>
      </p:sp>
      <p:sp>
        <p:nvSpPr>
          <p:cNvPr id="7" name="Text 4"/>
          <p:cNvSpPr/>
          <p:nvPr/>
        </p:nvSpPr>
        <p:spPr>
          <a:xfrm>
            <a:off x="4071193" y="1622078"/>
            <a:ext cx="158130" cy="19764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200" dirty="0">
                <a:solidFill>
                  <a:srgbClr val="C7CDD6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1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4450705" y="1455688"/>
            <a:ext cx="1317947" cy="1646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50"/>
              </a:lnSpc>
              <a:buNone/>
            </a:pPr>
            <a:r>
              <a:rPr lang="en-US" sz="1000" dirty="0">
                <a:solidFill>
                  <a:srgbClr val="C7CDD6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Главная страница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4450705" y="1674093"/>
            <a:ext cx="4077519" cy="3120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00" dirty="0">
                <a:solidFill>
                  <a:srgbClr val="C7CD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Знакомит пользователя с компанией, её миссией и основным назначением сайта. Формирует первое впечатление о бренде Caspian Homes.</a:t>
            </a:r>
            <a:endParaRPr lang="en-US" sz="800" dirty="0"/>
          </a:p>
        </p:txBody>
      </p:sp>
      <p:sp>
        <p:nvSpPr>
          <p:cNvPr id="10" name="Shape 7"/>
          <p:cNvSpPr/>
          <p:nvPr/>
        </p:nvSpPr>
        <p:spPr>
          <a:xfrm>
            <a:off x="3925119" y="2195438"/>
            <a:ext cx="4722763" cy="769813"/>
          </a:xfrm>
          <a:prstGeom prst="roundRect">
            <a:avLst>
              <a:gd name="adj" fmla="val 2055"/>
            </a:avLst>
          </a:prstGeom>
          <a:solidFill>
            <a:srgbClr val="242429"/>
          </a:solidFill>
          <a:ln w="14288">
            <a:solidFill>
              <a:srgbClr val="5C5C61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3939406" y="2209726"/>
            <a:ext cx="421704" cy="741238"/>
          </a:xfrm>
          <a:prstGeom prst="rect">
            <a:avLst/>
          </a:prstGeom>
          <a:solidFill>
            <a:srgbClr val="434348"/>
          </a:solidFill>
          <a:ln/>
        </p:spPr>
      </p:sp>
      <p:sp>
        <p:nvSpPr>
          <p:cNvPr id="12" name="Text 9"/>
          <p:cNvSpPr/>
          <p:nvPr/>
        </p:nvSpPr>
        <p:spPr>
          <a:xfrm>
            <a:off x="4071193" y="2481486"/>
            <a:ext cx="158130" cy="19764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200" dirty="0">
                <a:solidFill>
                  <a:srgbClr val="C7CDD6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2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4450705" y="2315096"/>
            <a:ext cx="1317947" cy="1646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50"/>
              </a:lnSpc>
              <a:buNone/>
            </a:pPr>
            <a:r>
              <a:rPr lang="en-US" sz="1000" dirty="0">
                <a:solidFill>
                  <a:srgbClr val="C7CDD6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Каталог объектов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4450705" y="2533501"/>
            <a:ext cx="4077519" cy="3120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00" dirty="0">
                <a:solidFill>
                  <a:srgbClr val="C7CD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Содержит карточки недвижимости с указанием цены, района, площади и кнопкой перехода к подробной информации об объекте.</a:t>
            </a:r>
            <a:endParaRPr lang="en-US" sz="800" dirty="0"/>
          </a:p>
        </p:txBody>
      </p:sp>
      <p:sp>
        <p:nvSpPr>
          <p:cNvPr id="15" name="Shape 12"/>
          <p:cNvSpPr/>
          <p:nvPr/>
        </p:nvSpPr>
        <p:spPr>
          <a:xfrm>
            <a:off x="3925119" y="3054846"/>
            <a:ext cx="4722763" cy="769813"/>
          </a:xfrm>
          <a:prstGeom prst="roundRect">
            <a:avLst>
              <a:gd name="adj" fmla="val 2055"/>
            </a:avLst>
          </a:prstGeom>
          <a:solidFill>
            <a:srgbClr val="242429"/>
          </a:solidFill>
          <a:ln w="14288">
            <a:solidFill>
              <a:srgbClr val="5C5C61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3939406" y="3069134"/>
            <a:ext cx="421704" cy="741238"/>
          </a:xfrm>
          <a:prstGeom prst="rect">
            <a:avLst/>
          </a:prstGeom>
          <a:solidFill>
            <a:srgbClr val="434348"/>
          </a:solidFill>
          <a:ln/>
        </p:spPr>
      </p:sp>
      <p:sp>
        <p:nvSpPr>
          <p:cNvPr id="17" name="Text 14"/>
          <p:cNvSpPr/>
          <p:nvPr/>
        </p:nvSpPr>
        <p:spPr>
          <a:xfrm>
            <a:off x="4071193" y="3340894"/>
            <a:ext cx="158130" cy="19764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200" dirty="0">
                <a:solidFill>
                  <a:srgbClr val="C7CDD6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3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4450705" y="3174504"/>
            <a:ext cx="1317947" cy="1646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50"/>
              </a:lnSpc>
              <a:buNone/>
            </a:pPr>
            <a:r>
              <a:rPr lang="en-US" sz="1000" dirty="0">
                <a:solidFill>
                  <a:srgbClr val="C7CDD6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О компании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4450705" y="3392909"/>
            <a:ext cx="4077519" cy="3120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00" dirty="0">
                <a:solidFill>
                  <a:srgbClr val="C7CD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Представляет краткую историю и преимущества компании Caspian Homes, формируя доверие у потенциального покупателя.</a:t>
            </a:r>
            <a:endParaRPr lang="en-US" sz="800" dirty="0"/>
          </a:p>
        </p:txBody>
      </p:sp>
      <p:sp>
        <p:nvSpPr>
          <p:cNvPr id="20" name="Shape 17"/>
          <p:cNvSpPr/>
          <p:nvPr/>
        </p:nvSpPr>
        <p:spPr>
          <a:xfrm>
            <a:off x="3925119" y="3914254"/>
            <a:ext cx="4722763" cy="769813"/>
          </a:xfrm>
          <a:prstGeom prst="roundRect">
            <a:avLst>
              <a:gd name="adj" fmla="val 2055"/>
            </a:avLst>
          </a:prstGeom>
          <a:solidFill>
            <a:srgbClr val="242429"/>
          </a:solidFill>
          <a:ln w="14288">
            <a:solidFill>
              <a:srgbClr val="5C5C61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3939406" y="3928542"/>
            <a:ext cx="421704" cy="741238"/>
          </a:xfrm>
          <a:prstGeom prst="rect">
            <a:avLst/>
          </a:prstGeom>
          <a:solidFill>
            <a:srgbClr val="434348"/>
          </a:solidFill>
          <a:ln/>
        </p:spPr>
      </p:sp>
      <p:sp>
        <p:nvSpPr>
          <p:cNvPr id="22" name="Text 19"/>
          <p:cNvSpPr/>
          <p:nvPr/>
        </p:nvSpPr>
        <p:spPr>
          <a:xfrm>
            <a:off x="4071193" y="4200302"/>
            <a:ext cx="158130" cy="19764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200" dirty="0">
                <a:solidFill>
                  <a:srgbClr val="C7CDD6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4</a:t>
            </a:r>
            <a:endParaRPr lang="en-US" sz="1200" dirty="0"/>
          </a:p>
        </p:txBody>
      </p:sp>
      <p:sp>
        <p:nvSpPr>
          <p:cNvPr id="23" name="Text 20"/>
          <p:cNvSpPr/>
          <p:nvPr/>
        </p:nvSpPr>
        <p:spPr>
          <a:xfrm>
            <a:off x="4450705" y="4033912"/>
            <a:ext cx="1317947" cy="1646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50"/>
              </a:lnSpc>
              <a:buNone/>
            </a:pPr>
            <a:r>
              <a:rPr lang="en-US" sz="1000" dirty="0">
                <a:solidFill>
                  <a:srgbClr val="C7CDD6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Контакты</a:t>
            </a:r>
            <a:endParaRPr lang="en-US" sz="1000" dirty="0"/>
          </a:p>
        </p:txBody>
      </p:sp>
      <p:sp>
        <p:nvSpPr>
          <p:cNvPr id="24" name="Text 21"/>
          <p:cNvSpPr/>
          <p:nvPr/>
        </p:nvSpPr>
        <p:spPr>
          <a:xfrm>
            <a:off x="4450705" y="4252317"/>
            <a:ext cx="4077519" cy="3120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00" dirty="0">
                <a:solidFill>
                  <a:srgbClr val="C7CD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Содержит контактную информацию компании и форму обратной связи для отправки заявки или вопроса консультанту.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3925119" y="1113681"/>
            <a:ext cx="3591223" cy="3875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50"/>
              </a:lnSpc>
              <a:buNone/>
            </a:pPr>
            <a:r>
              <a:rPr lang="en-US" sz="2400" dirty="0">
                <a:solidFill>
                  <a:srgbClr val="EFD5FA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Технологии разработки</a:t>
            </a:r>
            <a:endParaRPr lang="en-US" sz="2400" dirty="0"/>
          </a:p>
        </p:txBody>
      </p:sp>
      <p:sp>
        <p:nvSpPr>
          <p:cNvPr id="4" name="Text 1"/>
          <p:cNvSpPr/>
          <p:nvPr/>
        </p:nvSpPr>
        <p:spPr>
          <a:xfrm>
            <a:off x="3925119" y="1687264"/>
            <a:ext cx="4722763" cy="396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950" dirty="0">
                <a:solidFill>
                  <a:srgbClr val="C7CD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Для создания сайта использованы три базовые технологии, каждая из которых отвечает за свою часть работы интерфейса.</a:t>
            </a:r>
            <a:endParaRPr lang="en-US" sz="950" dirty="0"/>
          </a:p>
        </p:txBody>
      </p:sp>
      <p:sp>
        <p:nvSpPr>
          <p:cNvPr id="5" name="Shape 2"/>
          <p:cNvSpPr/>
          <p:nvPr/>
        </p:nvSpPr>
        <p:spPr>
          <a:xfrm>
            <a:off x="3925119" y="2223715"/>
            <a:ext cx="1491555" cy="1806104"/>
          </a:xfrm>
          <a:prstGeom prst="roundRect">
            <a:avLst>
              <a:gd name="adj" fmla="val 1247"/>
            </a:avLst>
          </a:prstGeom>
          <a:solidFill>
            <a:srgbClr val="434348"/>
          </a:solidFill>
          <a:ln/>
        </p:spPr>
      </p:sp>
      <p:sp>
        <p:nvSpPr>
          <p:cNvPr id="6" name="Shape 3"/>
          <p:cNvSpPr/>
          <p:nvPr/>
        </p:nvSpPr>
        <p:spPr>
          <a:xfrm>
            <a:off x="4049092" y="2347689"/>
            <a:ext cx="372070" cy="372070"/>
          </a:xfrm>
          <a:prstGeom prst="roundRect">
            <a:avLst>
              <a:gd name="adj" fmla="val 15358477"/>
            </a:avLst>
          </a:prstGeom>
          <a:solidFill>
            <a:srgbClr val="FDC4C4"/>
          </a:solidFill>
          <a:ln/>
        </p:spPr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151412" y="2449934"/>
            <a:ext cx="167432" cy="167432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4049092" y="2843733"/>
            <a:ext cx="1243608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200" dirty="0">
                <a:solidFill>
                  <a:srgbClr val="C7CDD6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HTML</a:t>
            </a:r>
            <a:endParaRPr lang="en-US" sz="1200" dirty="0"/>
          </a:p>
        </p:txBody>
      </p:sp>
      <p:sp>
        <p:nvSpPr>
          <p:cNvPr id="9" name="Text 5"/>
          <p:cNvSpPr/>
          <p:nvPr/>
        </p:nvSpPr>
        <p:spPr>
          <a:xfrm>
            <a:off x="4049092" y="3111996"/>
            <a:ext cx="1243608" cy="5953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950" dirty="0">
                <a:solidFill>
                  <a:srgbClr val="C7CD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Создаёт структуру страниц и задаёт основу контента.</a:t>
            </a:r>
            <a:endParaRPr lang="en-US" sz="950" dirty="0"/>
          </a:p>
        </p:txBody>
      </p:sp>
      <p:sp>
        <p:nvSpPr>
          <p:cNvPr id="10" name="Shape 6"/>
          <p:cNvSpPr/>
          <p:nvPr/>
        </p:nvSpPr>
        <p:spPr>
          <a:xfrm>
            <a:off x="5540648" y="2223715"/>
            <a:ext cx="1491630" cy="1806104"/>
          </a:xfrm>
          <a:prstGeom prst="roundRect">
            <a:avLst>
              <a:gd name="adj" fmla="val 1247"/>
            </a:avLst>
          </a:prstGeom>
          <a:solidFill>
            <a:srgbClr val="434348"/>
          </a:solidFill>
          <a:ln/>
        </p:spPr>
      </p:sp>
      <p:sp>
        <p:nvSpPr>
          <p:cNvPr id="11" name="Shape 7"/>
          <p:cNvSpPr/>
          <p:nvPr/>
        </p:nvSpPr>
        <p:spPr>
          <a:xfrm>
            <a:off x="5664622" y="2347689"/>
            <a:ext cx="372070" cy="372070"/>
          </a:xfrm>
          <a:prstGeom prst="roundRect">
            <a:avLst>
              <a:gd name="adj" fmla="val 15358477"/>
            </a:avLst>
          </a:prstGeom>
          <a:solidFill>
            <a:srgbClr val="FDC4C4"/>
          </a:solidFill>
          <a:ln/>
        </p:spPr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766941" y="2449934"/>
            <a:ext cx="167432" cy="167432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5664622" y="2843733"/>
            <a:ext cx="1243682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200" dirty="0">
                <a:solidFill>
                  <a:srgbClr val="C7CDD6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CSS</a:t>
            </a:r>
            <a:endParaRPr lang="en-US" sz="1200" dirty="0"/>
          </a:p>
        </p:txBody>
      </p:sp>
      <p:sp>
        <p:nvSpPr>
          <p:cNvPr id="14" name="Text 9"/>
          <p:cNvSpPr/>
          <p:nvPr/>
        </p:nvSpPr>
        <p:spPr>
          <a:xfrm>
            <a:off x="5664622" y="3111996"/>
            <a:ext cx="1243682" cy="7938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950" dirty="0">
                <a:solidFill>
                  <a:srgbClr val="C7CD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Отвечает за стиль, аккуратный вид и адаптивность интерфейса.</a:t>
            </a:r>
            <a:endParaRPr lang="en-US" sz="950" dirty="0"/>
          </a:p>
        </p:txBody>
      </p:sp>
      <p:sp>
        <p:nvSpPr>
          <p:cNvPr id="15" name="Shape 10"/>
          <p:cNvSpPr/>
          <p:nvPr/>
        </p:nvSpPr>
        <p:spPr>
          <a:xfrm>
            <a:off x="7156252" y="2223715"/>
            <a:ext cx="1491630" cy="1806104"/>
          </a:xfrm>
          <a:prstGeom prst="roundRect">
            <a:avLst>
              <a:gd name="adj" fmla="val 1247"/>
            </a:avLst>
          </a:prstGeom>
          <a:solidFill>
            <a:srgbClr val="434348"/>
          </a:solidFill>
          <a:ln/>
        </p:spPr>
      </p:sp>
      <p:sp>
        <p:nvSpPr>
          <p:cNvPr id="16" name="Shape 11"/>
          <p:cNvSpPr/>
          <p:nvPr/>
        </p:nvSpPr>
        <p:spPr>
          <a:xfrm>
            <a:off x="7280225" y="2347689"/>
            <a:ext cx="372070" cy="372070"/>
          </a:xfrm>
          <a:prstGeom prst="roundRect">
            <a:avLst>
              <a:gd name="adj" fmla="val 15358477"/>
            </a:avLst>
          </a:prstGeom>
          <a:solidFill>
            <a:srgbClr val="FDC4C4"/>
          </a:solidFill>
          <a:ln/>
        </p:spPr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382545" y="2449934"/>
            <a:ext cx="167432" cy="167432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7280225" y="2843733"/>
            <a:ext cx="1243682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200" dirty="0">
                <a:solidFill>
                  <a:srgbClr val="C7CDD6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JavaScript</a:t>
            </a:r>
            <a:endParaRPr lang="en-US" sz="1200" dirty="0"/>
          </a:p>
        </p:txBody>
      </p:sp>
      <p:sp>
        <p:nvSpPr>
          <p:cNvPr id="19" name="Text 13"/>
          <p:cNvSpPr/>
          <p:nvPr/>
        </p:nvSpPr>
        <p:spPr>
          <a:xfrm>
            <a:off x="7280225" y="3111996"/>
            <a:ext cx="1243682" cy="7938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950" dirty="0">
                <a:solidFill>
                  <a:srgbClr val="C7CD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Добавляет интерактивность и динамическое поведение сайта.</a:t>
            </a:r>
            <a:endParaRPr lang="en-US" sz="950" dirty="0"/>
          </a:p>
        </p:txBody>
      </p:sp>
      <p:pic>
        <p:nvPicPr>
          <p:cNvPr id="20" name="Рисунок 19">
            <a:extLst>
              <a:ext uri="{FF2B5EF4-FFF2-40B4-BE49-F238E27FC236}">
                <a16:creationId xmlns:a16="http://schemas.microsoft.com/office/drawing/2014/main" id="{A3542A2C-B1BD-3F4C-FBA7-C7AB8CD56D39}"/>
              </a:ext>
            </a:extLst>
          </p:cNvPr>
          <p:cNvPicPr>
            <a:picLocks noChangeAspect="1"/>
          </p:cNvPicPr>
          <p:nvPr/>
        </p:nvPicPr>
        <p:blipFill rotWithShape="1">
          <a:blip r:embed="rId9"/>
          <a:srcRect t="-208" r="24159" b="23994"/>
          <a:stretch/>
        </p:blipFill>
        <p:spPr>
          <a:xfrm>
            <a:off x="102654" y="223703"/>
            <a:ext cx="3591223" cy="2226231"/>
          </a:xfrm>
          <a:prstGeom prst="rect">
            <a:avLst/>
          </a:prstGeom>
        </p:spPr>
      </p:pic>
      <p:pic>
        <p:nvPicPr>
          <p:cNvPr id="22" name="Рисунок 21">
            <a:extLst>
              <a:ext uri="{FF2B5EF4-FFF2-40B4-BE49-F238E27FC236}">
                <a16:creationId xmlns:a16="http://schemas.microsoft.com/office/drawing/2014/main" id="{00D75CC8-450A-4126-C74D-EE587E91DC2C}"/>
              </a:ext>
            </a:extLst>
          </p:cNvPr>
          <p:cNvPicPr>
            <a:picLocks noChangeAspect="1"/>
          </p:cNvPicPr>
          <p:nvPr/>
        </p:nvPicPr>
        <p:blipFill rotWithShape="1">
          <a:blip r:embed="rId10"/>
          <a:srcRect r="12432" b="22313"/>
          <a:stretch/>
        </p:blipFill>
        <p:spPr>
          <a:xfrm>
            <a:off x="102654" y="2594267"/>
            <a:ext cx="3591223" cy="2226231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88379" y="463972"/>
            <a:ext cx="4690318" cy="3815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2400" dirty="0">
                <a:solidFill>
                  <a:srgbClr val="EFD5FA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Функциональные возможности</a:t>
            </a:r>
            <a:endParaRPr lang="en-US" sz="2400" dirty="0"/>
          </a:p>
        </p:txBody>
      </p:sp>
      <p:sp>
        <p:nvSpPr>
          <p:cNvPr id="4" name="Text 1"/>
          <p:cNvSpPr/>
          <p:nvPr/>
        </p:nvSpPr>
        <p:spPr>
          <a:xfrm>
            <a:off x="488379" y="1025723"/>
            <a:ext cx="4738241" cy="5815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950" dirty="0">
                <a:solidFill>
                  <a:srgbClr val="C7CD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На сайте реализован полный набор функций, необходимых для информационной системы в сфере недвижимости. Все они направлены на удобство пользователя и снижение барьера до получения консультации.</a:t>
            </a:r>
            <a:endParaRPr lang="en-US" sz="950" dirty="0"/>
          </a:p>
        </p:txBody>
      </p:sp>
      <p:sp>
        <p:nvSpPr>
          <p:cNvPr id="5" name="Shape 2"/>
          <p:cNvSpPr/>
          <p:nvPr/>
        </p:nvSpPr>
        <p:spPr>
          <a:xfrm>
            <a:off x="610493" y="1925613"/>
            <a:ext cx="122039" cy="1225228"/>
          </a:xfrm>
          <a:prstGeom prst="roundRect">
            <a:avLst>
              <a:gd name="adj" fmla="val 15009"/>
            </a:avLst>
          </a:prstGeom>
          <a:solidFill>
            <a:srgbClr val="434348"/>
          </a:solidFill>
          <a:ln/>
        </p:spPr>
      </p:sp>
      <p:sp>
        <p:nvSpPr>
          <p:cNvPr id="6" name="Shape 3"/>
          <p:cNvSpPr/>
          <p:nvPr/>
        </p:nvSpPr>
        <p:spPr>
          <a:xfrm>
            <a:off x="488379" y="1845469"/>
            <a:ext cx="366266" cy="366266"/>
          </a:xfrm>
          <a:prstGeom prst="roundRect">
            <a:avLst>
              <a:gd name="adj" fmla="val 78017"/>
            </a:avLst>
          </a:prstGeom>
          <a:solidFill>
            <a:srgbClr val="434348"/>
          </a:solidFill>
          <a:ln/>
        </p:spPr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79909" y="1936998"/>
            <a:ext cx="183133" cy="183133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974824" y="1864519"/>
            <a:ext cx="1531367" cy="1907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200" dirty="0">
                <a:solidFill>
                  <a:srgbClr val="C7CDD6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Навигация и каталог</a:t>
            </a:r>
            <a:endParaRPr lang="en-US" sz="1200" dirty="0"/>
          </a:p>
        </p:txBody>
      </p:sp>
      <p:sp>
        <p:nvSpPr>
          <p:cNvPr id="9" name="Text 5"/>
          <p:cNvSpPr/>
          <p:nvPr/>
        </p:nvSpPr>
        <p:spPr>
          <a:xfrm>
            <a:off x="974824" y="2127349"/>
            <a:ext cx="4251796" cy="9015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500"/>
              </a:lnSpc>
              <a:buSzPct val="100000"/>
              <a:buChar char="•"/>
            </a:pPr>
            <a:r>
              <a:rPr lang="en-US" sz="950" dirty="0">
                <a:solidFill>
                  <a:srgbClr val="C7CD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Удобная навигация между страницами сайта</a:t>
            </a:r>
            <a:endParaRPr lang="en-US" sz="950" dirty="0"/>
          </a:p>
          <a:p>
            <a:pPr marL="342900" indent="-342900" algn="l">
              <a:lnSpc>
                <a:spcPts val="1500"/>
              </a:lnSpc>
              <a:buSzPct val="100000"/>
              <a:buChar char="•"/>
            </a:pPr>
            <a:r>
              <a:rPr lang="en-US" sz="950" dirty="0">
                <a:solidFill>
                  <a:srgbClr val="C7CD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Каталог объектов недвижимости с карточками</a:t>
            </a:r>
            <a:endParaRPr lang="en-US" sz="950" dirty="0"/>
          </a:p>
          <a:p>
            <a:pPr marL="342900" indent="-342900" algn="l">
              <a:lnSpc>
                <a:spcPts val="1500"/>
              </a:lnSpc>
              <a:buSzPct val="100000"/>
              <a:buChar char="•"/>
            </a:pPr>
            <a:r>
              <a:rPr lang="en-US" sz="950" dirty="0">
                <a:solidFill>
                  <a:srgbClr val="C7CD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Поиск по названию, району или типу объекта</a:t>
            </a:r>
            <a:endParaRPr lang="en-US" sz="950" dirty="0"/>
          </a:p>
          <a:p>
            <a:pPr marL="342900" indent="-342900" algn="l">
              <a:lnSpc>
                <a:spcPts val="1500"/>
              </a:lnSpc>
              <a:buSzPct val="100000"/>
              <a:buChar char="•"/>
            </a:pPr>
            <a:r>
              <a:rPr lang="en-US" sz="950" dirty="0">
                <a:solidFill>
                  <a:srgbClr val="C7CD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Фильтрация объектов по категориям</a:t>
            </a:r>
            <a:endParaRPr lang="en-US" sz="950" dirty="0"/>
          </a:p>
        </p:txBody>
      </p:sp>
      <p:sp>
        <p:nvSpPr>
          <p:cNvPr id="10" name="Shape 6"/>
          <p:cNvSpPr/>
          <p:nvPr/>
        </p:nvSpPr>
        <p:spPr>
          <a:xfrm>
            <a:off x="793626" y="3454226"/>
            <a:ext cx="122039" cy="1225228"/>
          </a:xfrm>
          <a:prstGeom prst="roundRect">
            <a:avLst>
              <a:gd name="adj" fmla="val 15009"/>
            </a:avLst>
          </a:prstGeom>
          <a:solidFill>
            <a:srgbClr val="434348"/>
          </a:solidFill>
          <a:ln/>
        </p:spPr>
      </p:sp>
      <p:sp>
        <p:nvSpPr>
          <p:cNvPr id="11" name="Shape 7"/>
          <p:cNvSpPr/>
          <p:nvPr/>
        </p:nvSpPr>
        <p:spPr>
          <a:xfrm>
            <a:off x="671513" y="3374082"/>
            <a:ext cx="366266" cy="366266"/>
          </a:xfrm>
          <a:prstGeom prst="roundRect">
            <a:avLst>
              <a:gd name="adj" fmla="val 78017"/>
            </a:avLst>
          </a:prstGeom>
          <a:solidFill>
            <a:srgbClr val="434348"/>
          </a:solidFill>
          <a:ln/>
        </p:spPr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763042" y="3465612"/>
            <a:ext cx="183133" cy="183133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157957" y="3393132"/>
            <a:ext cx="2520107" cy="1907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200" dirty="0">
                <a:solidFill>
                  <a:srgbClr val="C7CDD6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Взаимодействие с пользователем</a:t>
            </a:r>
            <a:endParaRPr lang="en-US" sz="1200" dirty="0"/>
          </a:p>
        </p:txBody>
      </p:sp>
      <p:sp>
        <p:nvSpPr>
          <p:cNvPr id="14" name="Text 9"/>
          <p:cNvSpPr/>
          <p:nvPr/>
        </p:nvSpPr>
        <p:spPr>
          <a:xfrm>
            <a:off x="1157957" y="3655963"/>
            <a:ext cx="4068663" cy="9015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500"/>
              </a:lnSpc>
              <a:buSzPct val="100000"/>
              <a:buChar char="•"/>
            </a:pPr>
            <a:r>
              <a:rPr lang="en-US" sz="950" dirty="0">
                <a:solidFill>
                  <a:srgbClr val="C7CD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Кнопка просмотра подробной информации об объекте</a:t>
            </a:r>
            <a:endParaRPr lang="en-US" sz="950" dirty="0"/>
          </a:p>
          <a:p>
            <a:pPr marL="342900" indent="-342900" algn="l">
              <a:lnSpc>
                <a:spcPts val="1500"/>
              </a:lnSpc>
              <a:buSzPct val="100000"/>
              <a:buChar char="•"/>
            </a:pPr>
            <a:r>
              <a:rPr lang="en-US" sz="950" dirty="0">
                <a:solidFill>
                  <a:srgbClr val="C7CD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Форма обратной связи для отправки заявки</a:t>
            </a:r>
            <a:endParaRPr lang="en-US" sz="950" dirty="0"/>
          </a:p>
          <a:p>
            <a:pPr marL="342900" indent="-342900" algn="l">
              <a:lnSpc>
                <a:spcPts val="1500"/>
              </a:lnSpc>
              <a:buSzPct val="100000"/>
              <a:buChar char="•"/>
            </a:pPr>
            <a:r>
              <a:rPr lang="en-US" sz="950" dirty="0">
                <a:solidFill>
                  <a:srgbClr val="C7CD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Уведомление пользователя после успешной отправки</a:t>
            </a:r>
            <a:endParaRPr lang="en-US" sz="950" dirty="0"/>
          </a:p>
          <a:p>
            <a:pPr marL="342900" indent="-342900" algn="l">
              <a:lnSpc>
                <a:spcPts val="1500"/>
              </a:lnSpc>
              <a:buSzPct val="100000"/>
              <a:buChar char="•"/>
            </a:pPr>
            <a:r>
              <a:rPr lang="en-US" sz="950" dirty="0">
                <a:solidFill>
                  <a:srgbClr val="C7CD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Адаптивный интерфейс для мобильных устройств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485487" y="2023565"/>
            <a:ext cx="3299743" cy="3875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50"/>
              </a:lnSpc>
              <a:buNone/>
            </a:pPr>
            <a:r>
              <a:rPr lang="en-US" sz="2400" dirty="0">
                <a:solidFill>
                  <a:srgbClr val="EFD5FA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Результат разработки</a:t>
            </a:r>
            <a:endParaRPr lang="en-US" sz="2400" dirty="0"/>
          </a:p>
        </p:txBody>
      </p:sp>
      <p:sp>
        <p:nvSpPr>
          <p:cNvPr id="4" name="Text 1"/>
          <p:cNvSpPr/>
          <p:nvPr/>
        </p:nvSpPr>
        <p:spPr>
          <a:xfrm>
            <a:off x="485487" y="2597149"/>
            <a:ext cx="8151763" cy="396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950" dirty="0">
                <a:solidFill>
                  <a:srgbClr val="C7CD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В результате выполнения курсовой работы был создан полноценный веб-сайт </a:t>
            </a:r>
            <a:r>
              <a:rPr lang="en-US" sz="950" b="1" dirty="0">
                <a:solidFill>
                  <a:srgbClr val="C7CD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Caspian Homes</a:t>
            </a:r>
            <a:r>
              <a:rPr lang="en-US" sz="950" dirty="0">
                <a:solidFill>
                  <a:srgbClr val="C7CD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— современная онлайн информационная система для компании по продаже недвижимости.</a:t>
            </a:r>
            <a:endParaRPr lang="en-US" sz="950" dirty="0"/>
          </a:p>
        </p:txBody>
      </p:sp>
      <p:sp>
        <p:nvSpPr>
          <p:cNvPr id="5" name="Shape 2"/>
          <p:cNvSpPr/>
          <p:nvPr/>
        </p:nvSpPr>
        <p:spPr>
          <a:xfrm>
            <a:off x="485487" y="3133600"/>
            <a:ext cx="2634555" cy="1111597"/>
          </a:xfrm>
          <a:prstGeom prst="roundRect">
            <a:avLst>
              <a:gd name="adj" fmla="val 1674"/>
            </a:avLst>
          </a:prstGeom>
          <a:solidFill>
            <a:srgbClr val="434348"/>
          </a:solidFill>
          <a:ln/>
        </p:spPr>
      </p:sp>
      <p:sp>
        <p:nvSpPr>
          <p:cNvPr id="6" name="Text 3"/>
          <p:cNvSpPr/>
          <p:nvPr/>
        </p:nvSpPr>
        <p:spPr>
          <a:xfrm>
            <a:off x="609460" y="3257573"/>
            <a:ext cx="1550566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200" dirty="0">
                <a:solidFill>
                  <a:srgbClr val="C7CDD6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Дизайн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609460" y="3525836"/>
            <a:ext cx="2386608" cy="5953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950" dirty="0">
                <a:solidFill>
                  <a:srgbClr val="C7CD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Спокойный современный стиль с понятной визуальной иерархией и адаптивной вёрсткой</a:t>
            </a:r>
            <a:endParaRPr lang="en-US" sz="950" dirty="0"/>
          </a:p>
        </p:txBody>
      </p:sp>
      <p:sp>
        <p:nvSpPr>
          <p:cNvPr id="8" name="Shape 5"/>
          <p:cNvSpPr/>
          <p:nvPr/>
        </p:nvSpPr>
        <p:spPr>
          <a:xfrm>
            <a:off x="3244016" y="3133600"/>
            <a:ext cx="2634630" cy="1111597"/>
          </a:xfrm>
          <a:prstGeom prst="roundRect">
            <a:avLst>
              <a:gd name="adj" fmla="val 1674"/>
            </a:avLst>
          </a:prstGeom>
          <a:solidFill>
            <a:srgbClr val="434348"/>
          </a:solidFill>
          <a:ln/>
        </p:spPr>
      </p:sp>
      <p:sp>
        <p:nvSpPr>
          <p:cNvPr id="9" name="Text 6"/>
          <p:cNvSpPr/>
          <p:nvPr/>
        </p:nvSpPr>
        <p:spPr>
          <a:xfrm>
            <a:off x="3367990" y="3257573"/>
            <a:ext cx="1550566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200" dirty="0">
                <a:solidFill>
                  <a:srgbClr val="C7CDD6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Удобство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3367990" y="3525836"/>
            <a:ext cx="2386682" cy="5953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950" dirty="0">
                <a:solidFill>
                  <a:srgbClr val="C7CD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Интуитивная структура позволяет быстро найти объект, сравнить варианты и оставить заявку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6002620" y="3133600"/>
            <a:ext cx="2634555" cy="1111597"/>
          </a:xfrm>
          <a:prstGeom prst="roundRect">
            <a:avLst>
              <a:gd name="adj" fmla="val 1674"/>
            </a:avLst>
          </a:prstGeom>
          <a:solidFill>
            <a:srgbClr val="434348"/>
          </a:solidFill>
          <a:ln/>
        </p:spPr>
      </p:sp>
      <p:sp>
        <p:nvSpPr>
          <p:cNvPr id="12" name="Text 9"/>
          <p:cNvSpPr/>
          <p:nvPr/>
        </p:nvSpPr>
        <p:spPr>
          <a:xfrm>
            <a:off x="6126593" y="3257573"/>
            <a:ext cx="1550566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200" dirty="0">
                <a:solidFill>
                  <a:srgbClr val="C7CDD6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Технологии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6126593" y="3525836"/>
            <a:ext cx="2386608" cy="5953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950" dirty="0">
                <a:solidFill>
                  <a:srgbClr val="C7CD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Проект реализован исключительно на </a:t>
            </a:r>
            <a:r>
              <a:rPr lang="en-US" sz="950" b="1" dirty="0">
                <a:solidFill>
                  <a:srgbClr val="C7CD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HTML, CSS и JavaScript</a:t>
            </a:r>
            <a:r>
              <a:rPr lang="en-US" sz="950" dirty="0">
                <a:solidFill>
                  <a:srgbClr val="C7CD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без сторонних фреймворков</a:t>
            </a:r>
            <a:endParaRPr lang="en-US" sz="950" dirty="0"/>
          </a:p>
        </p:txBody>
      </p:sp>
      <p:pic>
        <p:nvPicPr>
          <p:cNvPr id="18" name="Рисунок 17">
            <a:extLst>
              <a:ext uri="{FF2B5EF4-FFF2-40B4-BE49-F238E27FC236}">
                <a16:creationId xmlns:a16="http://schemas.microsoft.com/office/drawing/2014/main" id="{F9651F28-EE7B-9B5C-10F1-D2A3023E4589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-1119" b="54569"/>
          <a:stretch/>
        </p:blipFill>
        <p:spPr>
          <a:xfrm>
            <a:off x="-37" y="0"/>
            <a:ext cx="9144000" cy="1548435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</TotalTime>
  <Words>405</Words>
  <Application>Microsoft Macintosh PowerPoint</Application>
  <PresentationFormat>Экран (16:9)</PresentationFormat>
  <Paragraphs>64</Paragraphs>
  <Slides>6</Slides>
  <Notes>6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6</vt:i4>
      </vt:variant>
    </vt:vector>
  </HeadingPairs>
  <TitlesOfParts>
    <vt:vector size="11" baseType="lpstr">
      <vt:lpstr>Calibri</vt:lpstr>
      <vt:lpstr>Inter</vt:lpstr>
      <vt:lpstr>Arial</vt:lpstr>
      <vt:lpstr>Instrument Sans Medium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subject/>
  <dc:creator/>
  <cp:lastModifiedBy>Microsoft Office User</cp:lastModifiedBy>
  <cp:revision>2</cp:revision>
  <dcterms:created xsi:type="dcterms:W3CDTF">2026-05-11T21:51:05Z</dcterms:created>
  <dcterms:modified xsi:type="dcterms:W3CDTF">2026-05-11T22:08:15Z</dcterms:modified>
</cp:coreProperties>
</file>